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customXml" Target="../customXml/item3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051560"/>
            <a:ext cx="640080" cy="640080"/>
          </a:xfrm>
          <a:prstGeom prst="ellipse">
            <a:avLst/>
          </a:prstGeom>
          <a:solidFill>
            <a:srgbClr val="E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828800"/>
            <a:ext cx="640080" cy="640080"/>
          </a:xfrm>
          <a:prstGeom prst="ellipse">
            <a:avLst/>
          </a:prstGeom>
          <a:solidFill>
            <a:srgbClr val="E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606040"/>
            <a:ext cx="640080" cy="640080"/>
          </a:xfrm>
          <a:prstGeom prst="ellipse">
            <a:avLst/>
          </a:prstGeom>
          <a:solidFill>
            <a:srgbClr val="E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234440"/>
            <a:ext cx="70408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9667"/>
                </a:solidFill>
              </a:defRPr>
            </a:pPr>
            <a:r>
              <a:t>ReTechLoop</a:t>
            </a:r>
          </a:p>
          <a:p>
            <a:pPr>
              <a:spcBef>
                <a:spcPts val="1000"/>
              </a:spcBef>
              <a:defRPr sz="2400">
                <a:solidFill>
                  <a:srgbClr val="182331"/>
                </a:solidFill>
              </a:defRPr>
            </a:pPr>
            <a:r>
              <a:t>AI-Powered E-Waste Exchange &amp; Circular Economy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749039"/>
            <a:ext cx="6217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6875"/>
                </a:solidFill>
              </a:defRPr>
            </a:pPr>
            <a:r>
              <a:t>Presented by</a:t>
            </a:r>
          </a:p>
          <a:p>
            <a:pPr>
              <a:defRPr sz="2500" b="1">
                <a:solidFill>
                  <a:srgbClr val="182331"/>
                </a:solidFill>
              </a:defRPr>
            </a:pPr>
            <a:r>
              <a:t>Kasim Ghanchi</a:t>
            </a:r>
          </a:p>
          <a:p>
            <a:pPr>
              <a:spcBef>
                <a:spcPts val="500"/>
              </a:spcBef>
              <a:defRPr sz="1900">
                <a:solidFill>
                  <a:srgbClr val="3068B4"/>
                </a:solidFill>
              </a:defRPr>
            </a:pPr>
            <a:r>
              <a:t>Roll No.: 24102C0015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75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1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5"/>
                </a:solidFill>
              </a:defRPr>
            </a:pPr>
            <a:r>
              <a:t>Why old electronics often become waste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spcAft>
                <a:spcPts val="1200"/>
              </a:spcAft>
              <a:defRPr sz="1700">
                <a:solidFill>
                  <a:srgbClr val="182331"/>
                </a:solidFill>
              </a:defRPr>
            </a:pPr>
            <a:r>
              <a:t>• People often do not know the actual value of their old electronics.</a:t>
            </a:r>
          </a:p>
          <a:p>
            <a:pPr>
              <a:spcAft>
                <a:spcPts val="1200"/>
              </a:spcAft>
              <a:defRPr sz="1700">
                <a:solidFill>
                  <a:srgbClr val="182331"/>
                </a:solidFill>
              </a:defRPr>
            </a:pPr>
            <a:r>
              <a:t>• Users are unsure whether a device should be reused, refurbished, sold, donated or recycled.</a:t>
            </a:r>
          </a:p>
          <a:p>
            <a:pPr>
              <a:spcAft>
                <a:spcPts val="1200"/>
              </a:spcAft>
              <a:defRPr sz="1700">
                <a:solidFill>
                  <a:srgbClr val="182331"/>
                </a:solidFill>
              </a:defRPr>
            </a:pPr>
            <a:r>
              <a:t>• Usable devices may remain unused or enter improper disposal channels.</a:t>
            </a:r>
          </a:p>
          <a:p>
            <a:pPr>
              <a:spcAft>
                <a:spcPts val="1200"/>
              </a:spcAft>
              <a:defRPr sz="1700">
                <a:solidFill>
                  <a:srgbClr val="182331"/>
                </a:solidFill>
              </a:defRPr>
            </a:pPr>
            <a:r>
              <a:t>• Students, NGOs and refurbishers need affordable electronic equipment.</a:t>
            </a:r>
          </a:p>
          <a:p>
            <a:pPr>
              <a:spcAft>
                <a:spcPts val="1200"/>
              </a:spcAft>
              <a:defRPr sz="1700">
                <a:solidFill>
                  <a:srgbClr val="182331"/>
                </a:solidFill>
              </a:defRPr>
            </a:pPr>
            <a:r>
              <a:t>• There is no single platform connecting owners with the right next user or recycler.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08760"/>
            <a:ext cx="4937760" cy="4206240"/>
          </a:xfrm>
          <a:prstGeom prst="roundRect">
            <a:avLst/>
          </a:prstGeom>
          <a:solidFill>
            <a:srgbClr val="E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65960"/>
            <a:ext cx="42062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2331"/>
                </a:solidFill>
              </a:defRPr>
            </a:pPr>
            <a:r>
              <a:t>Traditional Cycle</a:t>
            </a:r>
          </a:p>
          <a:p>
            <a:pPr>
              <a:spcBef>
                <a:spcPts val="1200"/>
              </a:spcBef>
              <a:defRPr sz="2000">
                <a:solidFill>
                  <a:srgbClr val="5B6875"/>
                </a:solidFill>
              </a:defRPr>
            </a:pPr>
            <a:r>
              <a:t>→ Buy</a:t>
            </a:r>
          </a:p>
          <a:p>
            <a:pPr>
              <a:spcBef>
                <a:spcPts val="1200"/>
              </a:spcBef>
              <a:defRPr sz="2000">
                <a:solidFill>
                  <a:srgbClr val="5B6875"/>
                </a:solidFill>
              </a:defRPr>
            </a:pPr>
            <a:r>
              <a:t>→ Use</a:t>
            </a:r>
          </a:p>
          <a:p>
            <a:pPr>
              <a:spcBef>
                <a:spcPts val="1200"/>
              </a:spcBef>
              <a:defRPr sz="2000">
                <a:solidFill>
                  <a:srgbClr val="5B6875"/>
                </a:solidFill>
              </a:defRPr>
            </a:pPr>
            <a:r>
              <a:t>→ Upgrade</a:t>
            </a:r>
          </a:p>
          <a:p>
            <a:pPr>
              <a:spcBef>
                <a:spcPts val="1200"/>
              </a:spcBef>
              <a:defRPr sz="2000">
                <a:solidFill>
                  <a:srgbClr val="5B6875"/>
                </a:solidFill>
              </a:defRPr>
            </a:pPr>
            <a:r>
              <a:t>→ Store / Throw Away</a:t>
            </a:r>
          </a:p>
          <a:p>
            <a:pPr>
              <a:spcBef>
                <a:spcPts val="1800"/>
              </a:spcBef>
              <a:defRPr sz="2300" b="1">
                <a:solidFill>
                  <a:srgbClr val="259667"/>
                </a:solidFill>
              </a:defRPr>
            </a:pPr>
            <a:r>
              <a:t>Value is lost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7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1"/>
                </a:solidFill>
              </a:defRPr>
            </a:pPr>
            <a:r>
              <a:t>3.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5"/>
                </a:solidFill>
              </a:defRPr>
            </a:pPr>
            <a:r>
              <a:t>A simple AI-powered circular economy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594360" cy="594360"/>
          </a:xfrm>
          <a:prstGeom prst="ellipse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606040"/>
            <a:ext cx="1965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28600"/>
          <a:lstStyle/>
          <a:p>
            <a:pPr algn="ctr">
              <a:defRPr sz="1800" b="1">
                <a:solidFill>
                  <a:srgbClr val="182331"/>
                </a:solidFill>
              </a:defRPr>
            </a:pPr>
            <a:r>
              <a:t>Upload Device</a:t>
            </a:r>
          </a:p>
          <a:p>
            <a:pPr algn="ctr">
              <a:spcBef>
                <a:spcPts val="1200"/>
              </a:spcBef>
              <a:defRPr sz="1400">
                <a:solidFill>
                  <a:srgbClr val="5B6875"/>
                </a:solidFill>
              </a:defRPr>
            </a:pPr>
            <a:r>
              <a:t>Photo of old electronics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0280" y="3337560"/>
            <a:ext cx="502920" cy="320040"/>
          </a:xfrm>
          <a:prstGeom prst="rightArrow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88920" y="1828800"/>
            <a:ext cx="594360" cy="594360"/>
          </a:xfrm>
          <a:prstGeom prst="ellipse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606040"/>
            <a:ext cx="1965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28600"/>
          <a:lstStyle/>
          <a:p>
            <a:pPr algn="ctr">
              <a:defRPr sz="1800" b="1">
                <a:solidFill>
                  <a:srgbClr val="182331"/>
                </a:solidFill>
              </a:defRPr>
            </a:pPr>
            <a:r>
              <a:t>AI Assessment</a:t>
            </a:r>
          </a:p>
          <a:p>
            <a:pPr algn="ctr">
              <a:spcBef>
                <a:spcPts val="1200"/>
              </a:spcBef>
              <a:defRPr sz="1400">
                <a:solidFill>
                  <a:srgbClr val="5B6875"/>
                </a:solidFill>
              </a:defRPr>
            </a:pPr>
            <a:r>
              <a:t>Identify device &amp; condition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26279" y="3337560"/>
            <a:ext cx="502920" cy="320040"/>
          </a:xfrm>
          <a:prstGeom prst="rightArrow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74920" y="1828800"/>
            <a:ext cx="594360" cy="594360"/>
          </a:xfrm>
          <a:prstGeom prst="ellipse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606040"/>
            <a:ext cx="1965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28600"/>
          <a:lstStyle/>
          <a:p>
            <a:pPr algn="ctr">
              <a:defRPr sz="1800" b="1">
                <a:solidFill>
                  <a:srgbClr val="182331"/>
                </a:solidFill>
              </a:defRPr>
            </a:pPr>
            <a:r>
              <a:t>Value Estimate</a:t>
            </a:r>
          </a:p>
          <a:p>
            <a:pPr algn="ctr">
              <a:spcBef>
                <a:spcPts val="1200"/>
              </a:spcBef>
              <a:defRPr sz="1400">
                <a:solidFill>
                  <a:srgbClr val="5B6875"/>
                </a:solidFill>
              </a:defRPr>
            </a:pPr>
            <a:r>
              <a:t>Estimate resale/refurbishment value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12279" y="3337560"/>
            <a:ext cx="502920" cy="320040"/>
          </a:xfrm>
          <a:prstGeom prst="rightArrow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60920" y="1828800"/>
            <a:ext cx="594360" cy="594360"/>
          </a:xfrm>
          <a:prstGeom prst="ellipse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606040"/>
            <a:ext cx="1965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28600"/>
          <a:lstStyle/>
          <a:p>
            <a:pPr algn="ctr">
              <a:defRPr sz="1800" b="1">
                <a:solidFill>
                  <a:srgbClr val="182331"/>
                </a:solidFill>
              </a:defRPr>
            </a:pPr>
            <a:r>
              <a:t>Best-Use</a:t>
            </a:r>
          </a:p>
          <a:p>
            <a:pPr algn="ctr">
              <a:spcBef>
                <a:spcPts val="1200"/>
              </a:spcBef>
              <a:defRPr sz="1400">
                <a:solidFill>
                  <a:srgbClr val="5B6875"/>
                </a:solidFill>
              </a:defRPr>
            </a:pPr>
            <a:r>
              <a:t>Reuse • Refurbish • Resell • Donate • Recycle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098280" y="3337560"/>
            <a:ext cx="502920" cy="320040"/>
          </a:xfrm>
          <a:prstGeom prst="rightArrow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6920" y="1828800"/>
            <a:ext cx="594360" cy="594360"/>
          </a:xfrm>
          <a:prstGeom prst="ellipse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606040"/>
            <a:ext cx="1965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228600"/>
          <a:lstStyle/>
          <a:p>
            <a:pPr algn="ctr">
              <a:defRPr sz="1800" b="1">
                <a:solidFill>
                  <a:srgbClr val="182331"/>
                </a:solidFill>
              </a:defRPr>
            </a:pPr>
            <a:r>
              <a:t>Take Action</a:t>
            </a:r>
          </a:p>
          <a:p>
            <a:pPr algn="ctr">
              <a:spcBef>
                <a:spcPts val="1200"/>
              </a:spcBef>
              <a:defRPr sz="1400">
                <a:solidFill>
                  <a:srgbClr val="5B6875"/>
                </a:solidFill>
              </a:defRPr>
            </a:pPr>
            <a:r>
              <a:t>Buyer, NGO, refurbisher or recycler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068B4"/>
                </a:solidFill>
              </a:defRPr>
            </a:pPr>
            <a:r>
              <a:t>Optional doorstep pickup + Digital Circularity Certificate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7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1"/>
                </a:solidFill>
              </a:defRPr>
            </a:pPr>
            <a:r>
              <a:t>4. Revenue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5"/>
                </a:solidFill>
              </a:defRPr>
            </a:pPr>
            <a:r>
              <a:t>Multiple revenue streams without depending mainly on advertising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8991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840480"/>
                <a:gridCol w="3200400"/>
              </a:tblGrid>
              <a:tr h="56007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Revenue Source</a:t>
                      </a:r>
                    </a:p>
                  </a:txBody>
                  <a:tcPr>
                    <a:solidFill>
                      <a:srgbClr val="2596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Example Activity</a:t>
                      </a:r>
                    </a:p>
                  </a:txBody>
                  <a:tcPr>
                    <a:solidFill>
                      <a:srgbClr val="2596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Estimated Monthly Revenue</a:t>
                      </a:r>
                    </a:p>
                  </a:txBody>
                  <a:tcPr>
                    <a:solidFill>
                      <a:srgbClr val="25966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Resale 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400 devices × ₹250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₹1,00,000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Refurbisher 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150 devices × ₹300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₹45,000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E-waste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300 collections × ₹100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₹30,000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Doorstep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250 pickups × ₹100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₹25,000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Premium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300 users × ₹99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₹29,700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Business subscriptions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10 organisations × ₹3,000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₹30,000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Featured listings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100 listings × ₹100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82331"/>
                          </a:solidFill>
                        </a:defRPr>
                      </a:pPr>
                      <a:r>
                        <a:t>₹10,000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598932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9667"/>
                </a:solidFill>
              </a:defRPr>
            </a:pPr>
            <a:r>
              <a:t>Projected: ₹2,69,700/month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7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1"/>
                </a:solidFill>
              </a:defRPr>
            </a:pPr>
            <a:r>
              <a:t>5. Core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5"/>
                </a:solidFill>
              </a:defRPr>
            </a:pPr>
            <a:r>
              <a:t>Value for users, businesses and the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017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defRPr sz="1900" b="1">
                <a:solidFill>
                  <a:srgbClr val="259667"/>
                </a:solidFill>
              </a:defRPr>
            </a:pPr>
            <a:r>
              <a:t>Consumers</a:t>
            </a:r>
          </a:p>
          <a:p>
            <a:pPr>
              <a:spcBef>
                <a:spcPts val="800"/>
              </a:spcBef>
              <a:defRPr sz="1400">
                <a:solidFill>
                  <a:srgbClr val="182331"/>
                </a:solidFill>
              </a:defRPr>
            </a:pPr>
            <a:r>
              <a:t>Recover value from unwanted electronics.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508760"/>
            <a:ext cx="3017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defRPr sz="1900" b="1">
                <a:solidFill>
                  <a:srgbClr val="259667"/>
                </a:solidFill>
              </a:defRPr>
            </a:pPr>
            <a:r>
              <a:t>Students &amp; Buyers</a:t>
            </a:r>
          </a:p>
          <a:p>
            <a:pPr>
              <a:spcBef>
                <a:spcPts val="800"/>
              </a:spcBef>
              <a:defRPr sz="1400">
                <a:solidFill>
                  <a:srgbClr val="182331"/>
                </a:solidFill>
              </a:defRPr>
            </a:pPr>
            <a:r>
              <a:t>Access affordable second-hand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508760"/>
            <a:ext cx="3017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defRPr sz="1900" b="1">
                <a:solidFill>
                  <a:srgbClr val="259667"/>
                </a:solidFill>
              </a:defRPr>
            </a:pPr>
            <a:r>
              <a:t>NGOs &amp; Schools</a:t>
            </a:r>
          </a:p>
          <a:p>
            <a:pPr>
              <a:spcBef>
                <a:spcPts val="800"/>
              </a:spcBef>
              <a:defRPr sz="1400">
                <a:solidFill>
                  <a:srgbClr val="182331"/>
                </a:solidFill>
              </a:defRPr>
            </a:pPr>
            <a:r>
              <a:t>Receive usable devices for social and educational purposes.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3017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defRPr sz="1900" b="1">
                <a:solidFill>
                  <a:srgbClr val="259667"/>
                </a:solidFill>
              </a:defRPr>
            </a:pPr>
            <a:r>
              <a:t>Refurbishers</a:t>
            </a:r>
          </a:p>
          <a:p>
            <a:pPr>
              <a:spcBef>
                <a:spcPts val="800"/>
              </a:spcBef>
              <a:defRPr sz="1400">
                <a:solidFill>
                  <a:srgbClr val="182331"/>
                </a:solidFill>
              </a:defRPr>
            </a:pPr>
            <a:r>
              <a:t>Get a reliable source of used electronics.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749039"/>
            <a:ext cx="3017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defRPr sz="1900" b="1">
                <a:solidFill>
                  <a:srgbClr val="259667"/>
                </a:solidFill>
              </a:defRPr>
            </a:pPr>
            <a:r>
              <a:t>Recyclers</a:t>
            </a:r>
          </a:p>
          <a:p>
            <a:pPr>
              <a:spcBef>
                <a:spcPts val="800"/>
              </a:spcBef>
              <a:defRPr sz="1400">
                <a:solidFill>
                  <a:srgbClr val="182331"/>
                </a:solidFill>
              </a:defRPr>
            </a:pPr>
            <a:r>
              <a:t>Receive verified e-waste collection opportunities.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749039"/>
            <a:ext cx="30175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defRPr sz="1900" b="1">
                <a:solidFill>
                  <a:srgbClr val="259667"/>
                </a:solidFill>
              </a:defRPr>
            </a:pPr>
            <a:r>
              <a:t>Environment</a:t>
            </a:r>
          </a:p>
          <a:p>
            <a:pPr>
              <a:spcBef>
                <a:spcPts val="800"/>
              </a:spcBef>
              <a:defRPr sz="1400">
                <a:solidFill>
                  <a:srgbClr val="182331"/>
                </a:solidFill>
              </a:defRPr>
            </a:pPr>
            <a:r>
              <a:t>Extend product life and reduce unnecessary e-waste.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7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1"/>
                </a:solidFill>
              </a:defRPr>
            </a:pPr>
            <a:r>
              <a:t>6. Business Model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B6875"/>
                </a:solidFill>
              </a:defRPr>
            </a:pPr>
            <a:r>
              <a:t>Turning the linear electronics lifecycle into a circular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1691640" cy="1051560"/>
          </a:xfrm>
          <a:prstGeom prst="roundRect">
            <a:avLst/>
          </a:prstGeom>
          <a:solidFill>
            <a:srgbClr val="E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331"/>
                </a:solidFill>
              </a:defRPr>
            </a:pPr>
            <a:r>
              <a:t>Old Device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59" y="2633472"/>
            <a:ext cx="320040" cy="274320"/>
          </a:xfrm>
          <a:prstGeom prst="rightArrow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39" y="2286000"/>
            <a:ext cx="1691640" cy="1051560"/>
          </a:xfrm>
          <a:prstGeom prst="roundRect">
            <a:avLst/>
          </a:prstGeom>
          <a:solidFill>
            <a:srgbClr val="E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331"/>
                </a:solidFill>
              </a:defRPr>
            </a:pPr>
            <a:r>
              <a:t>AI Assessment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79" y="2633472"/>
            <a:ext cx="320040" cy="274320"/>
          </a:xfrm>
          <a:prstGeom prst="rightArrow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59" y="2286000"/>
            <a:ext cx="1691640" cy="1051560"/>
          </a:xfrm>
          <a:prstGeom prst="roundRect">
            <a:avLst/>
          </a:prstGeom>
          <a:solidFill>
            <a:srgbClr val="E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331"/>
                </a:solidFill>
              </a:defRPr>
            </a:pPr>
            <a:r>
              <a:t>Reuse / Resell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3599" y="2633472"/>
            <a:ext cx="320040" cy="274320"/>
          </a:xfrm>
          <a:prstGeom prst="rightArrow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79" y="2286000"/>
            <a:ext cx="1691640" cy="1051560"/>
          </a:xfrm>
          <a:prstGeom prst="roundRect">
            <a:avLst/>
          </a:prstGeom>
          <a:solidFill>
            <a:srgbClr val="E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331"/>
                </a:solidFill>
              </a:defRPr>
            </a:pPr>
            <a:r>
              <a:t>Refurbish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18120" y="2633472"/>
            <a:ext cx="320040" cy="274320"/>
          </a:xfrm>
          <a:prstGeom prst="rightArrow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01000" y="2286000"/>
            <a:ext cx="1691640" cy="1051560"/>
          </a:xfrm>
          <a:prstGeom prst="roundRect">
            <a:avLst/>
          </a:prstGeom>
          <a:solidFill>
            <a:srgbClr val="E5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331"/>
                </a:solidFill>
              </a:defRPr>
            </a:pPr>
            <a:r>
              <a:t>Recycle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92640" y="2633472"/>
            <a:ext cx="320040" cy="274320"/>
          </a:xfrm>
          <a:prstGeom prst="rightArrow">
            <a:avLst/>
          </a:prstGeom>
          <a:solidFill>
            <a:srgbClr val="25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2286000"/>
            <a:ext cx="1691640" cy="1051560"/>
          </a:xfrm>
          <a:prstGeom prst="roundRect">
            <a:avLst/>
          </a:prstGeom>
          <a:solidFill>
            <a:srgbClr val="E5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331"/>
                </a:solidFill>
              </a:defRPr>
            </a:pPr>
            <a:r>
              <a:t>Material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10332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59667"/>
                </a:solidFill>
              </a:defRPr>
            </a:pPr>
            <a:r>
              <a:t>“Don't Waste It — Find Its Next Use.”</a:t>
            </a:r>
          </a:p>
          <a:p>
            <a:pPr algn="ctr">
              <a:spcBef>
                <a:spcPts val="1000"/>
              </a:spcBef>
              <a:defRPr sz="1700">
                <a:solidFill>
                  <a:srgbClr val="5B6875"/>
                </a:solidFill>
              </a:defRPr>
            </a:pPr>
            <a:r>
              <a:t>ReTechLoop connects technology, people and responsible e-waste management.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7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62F3FF80-9ED6-4166-88B0-8302381357D2}"/>
</file>

<file path=customXml/itemProps2.xml><?xml version="1.0" encoding="utf-8"?>
<ds:datastoreItem xmlns:ds="http://schemas.openxmlformats.org/officeDocument/2006/customXml" ds:itemID="{740A14CC-1E60-45D2-ADA8-F7FB8E2917E4}"/>
</file>

<file path=customXml/itemProps3.xml><?xml version="1.0" encoding="utf-8"?>
<ds:datastoreItem xmlns:ds="http://schemas.openxmlformats.org/officeDocument/2006/customXml" ds:itemID="{C4500797-4AB2-4C57-89EF-9D25CBD7E92C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