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 Case Studies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2 Preparation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1148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KASIM GHANCHI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24102C0015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EWEM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case studies  |  one slide each  |  report-format pointers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Japan Recycles More Than Most Countries: Lessons for India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pairs strict household segregation, law-backed take-back and strong social norms to keep resources circulating.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one of the world's most mature systems, from neighbourhood sorting to the Tokyo 2020 e-waste medals.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India: rules work when consumers, producers and municipalities each have an enforced role.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land area, few natural resources and landfill shortage pushed Japan to treat waste as a resource.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Act for a Sound Material-Cycle Society (2000) set the 3R framework: Reduce, Reuse, Recycle.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Appliance Recycling Law (2001) and Small Home Appliance Recycling Law (2013) cover e-waste.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sort waste into many categories on fixed collection days; local governments enforce.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pay a recycling fee when discarding TVs, ACs, fridges and washers; makers must take back and recycle.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'Urban mine' approach: Tokyo 2020 medals made from donated phones and small devices.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framework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 Basic Act (2000); Appliance Recycling Law (2001)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appliances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AC, TV, fridge/freezer, washer/dryer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Tokyo 2020 medals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~5,000 medals from ~79,000 t of devices (~6.2 M phones)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Appliance recycling rates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Typically ~70-90%+ by weight (govt reports)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legal duties, high citizen discipline, dense collection and processing network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sorting burden; disposal fee can encourage illegal dumping; high operating cost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mining of metals; export of know-how; digital product tracking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workforce, rising small-device volumes, informal export of used appliances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mostly mixed waste at source; SWM Rules 2016 segregation is weakly enforced.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Japan: consumer pays at disposal. India: producers pay via EPR, consumers see no cost signal.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informal sector handles most e-waste; Japan's chain is largely formal.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source segregation with municipal penalties and incentives.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deposit-refund or fee-at-disposal schemes in metros.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formal drop-off networks and use informal collectors as partners.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shows recycling succeeds when law, infrastructure and culture work together.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can adapt segregation, take-back and awareness, scaled to local realities.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the Environment, Japan - Home Appliance Recycling Law reports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2020 Organising Committee - Medal Project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Global E-waste Monitor (UNITAR/ITU)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Laws: 3R Basic Act 2000, HARL 2001, SHARL 2013.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consumer fee + manufacturer take-back + strict segregation.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2020 medals = urban mining of e-waste.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India: enforcement + behaviour change.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compare Japan's and India's e-waste models.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Switzerland's E-Waste Success Story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built one of the world's first national e-waste take-back systems, funded by consumers and run by industry.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 recycling fee (ARF) pays for collection and treatment, so the system is self-financing.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Per-capita collection is among the highest worldwide.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(fridges, from 1990s), SWICO (IT/office) and SLRS (lighting) began as industry schemes.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ORDEE ordinance (1998) made take-back legally mandatory.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Wealthy, compact country with high electronics use and strong environmental awareness.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 is added to the price at purchase of each device.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Retailers, manufacturers and importers must take back old devices free of charge.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organisations run logistics; certified recyclers follow strict standards.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 responsibility + Advance Recycling Fee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basis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ORDEE ordinance (1998)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kg per person per year (approx.)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recyclers; hazardous parts safely treated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Self-financing ARF, free take-back, high public trust and compliance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producer honesty; high labour and treatment costs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online-sale tracking; recovery of critical raw materials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Free-riders, cross-border online purchases, growing small-device volumes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no consumer-visible fee; costs move through EPR certificate trading.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retailers must accept old devices; Indian retail take-back is patchy.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chain is formal end-to-end; India's is mostly informal.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 advance recycling fee or deposit on selected products.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retailer take-back mandatory and audited.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central body to audit recyclers and track material flows.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proves a producer-run, consumer-funded model can last for decades.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can borrow fee-plus-take-back logic while including its informal sector.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SWICO Recycling and SENS eRecycling - annual reports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Federal Office for the Environment (FOEN) - ORDEE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Global E-waste Monitor (UNITAR/ITU)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ORDEE 1998 made take-back mandatory.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PROs: SENS, SWICO, SLRS.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 = fee paid at purchase that funds recycling.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take-back at retailers.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explain ARF and why it works.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E-Waste (Management) Rules 2022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2022 Rules replaced the 2016 Rules and made EPR certificate-based and digitally tracked.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apply from 1 April 2023 and widen scope to more products and more actors, including refurbishers.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generated ~1.6 million tonnes of e-waste in 2021-22 (CPCB).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rules (2011, 2016) had weak enforcement and low formal collection.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by MoEFCC in November 2022.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Producers, manufacturers, refurbishers and recyclers register on the CPCB portal.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targets rise yearly: 60%, 70%, then 80% from 2025-26.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106 items; CPCB sets certificate floor/ceiling prices; environmental compensation for violations.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covered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(2016 Rules) to 106 (2022 Rules)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April 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EPR targets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(2023-24), 70% (2024-25), 80% (2025-26 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E-waste generated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~1.6 Mt (2021-22, CPCB)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scope, digital tracking, certificate trade gives recyclers revenue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sector not fully integrated; complex compliance for small players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formal recycling, refurbishing and urban mining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certificates, weak monitoring, informal leakage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India's 2016 Rules: 106 items vs 21; certificate EPR vs collection-target EPR.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EU WEEE: India adds price-controlled certificates but has weaker take-back infrastructure.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formal role for refurbishers supports reuse.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recyclers physically, not only by paperwork.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informal collectors in through registration and training.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consumer campaigns on where and how to return devices.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2022 Rules are a major upgrade on paper.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enforcement, traceability and household collection.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MoEFCC - E-Waste (Management) Rules, 2022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- EPR portal and guidelines for e-waste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Global E-waste Monitor (UNITAR/ITU)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1 April 2023; 106 items.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EPR certificates on CPCB portal.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producer, manufacturer, refurbisher, recycler.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60/70/80%.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critically evaluate the 2022 Rules.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Extended Producer Responsibility (EPR): Success or Paper Compliance?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makes producers responsible for end-of-life products, but in India compliance is often on paper.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can be bought without proof of physical recycling, so real recovery lags targets.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began in the 2011 Rules, was strengthened in 2016 and became certificate-based in 2022.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meet targets by buying certificates from registered recyclers.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sector still handles most e-waste.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portal registers producers and recyclers and issues EPR certificates.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Recyclers generate certificates for processed e-waste; producers buy them to meet targets.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compensation for shortfall or false reporting.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share of e-waste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Small; informal sector handles most (commonly cited &gt;90%)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Recycler capacity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Authorised capacity far above actual throughput (reported)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integrity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Suspected fake or duplicate certificates flagged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targets 60-80%; actual collection much lower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backing, digital portal, clear producer liability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compliance, weak audits, no push to reach households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QR/blockchain tracking, third-party audits, informal linkage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certificates, price undercutting, informal channels persist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and Switzerland fund consumer-facing collection; India funds certificates.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best practice audits material flows; India relies heavily on documents.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EPR is recycler-centred, not collection-centred.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certificates with mass-balance data and site audits.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collection networks and informal aggregators directly.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recycler-wise data publicly.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EPR is a promising framework but currently closer to paper compliance than proven success.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success needs verified tonnage and household collection.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- EPR guidelines and portal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Science and Environment (CSE) - EPR analyses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MoEFCC - E-Waste Rules 2016 and 2022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= producer pays for end-of-life management.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compliance = certificates without real recycling.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audits, traceability, fund collection.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Swiss ARF model.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is EPR in India a success?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Bengaluru: India's E-Waste Capital?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India's IT capital, is a major urban e-waste generator and home to key formal recyclers.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Corporate, household and start-up streams make it a testbed for formalisation.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IT/BPO workforce, frequent device refresh and heavy corporate e-waste.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KSPCB authorises recyclers; E-Parisaraa (Peenya) is among India's early authorised recyclers.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scrap markets coexist with formal facilities.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KSPCB-licensed recyclers and dismantlers process the formal stream.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take-back and IT asset disposition with data destruction.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and civic bodies run awareness and collection drives.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among top e-waste generating states (CPCB)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areas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Peenya industrial area; Whitefield, Electronic City IT corridors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recycler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E-Parisaraa Pvt Ltd (Peenya), KSPCB-authorised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stream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ITAD volumes with certified data destruction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IT waste, skilled formal recyclers, active NGOs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e-waste still leaks to scrap dealers; low awareness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CSR tie-ups, drop-off points, urban mining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device growth, informal dismantling, land and cost pressure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most Indian cities in formal recycling, behind global cities like Zurich or Tokyo.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streams are formal; household streams remain informal.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a tech hub can lead but still needs household reach.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e-kiosks and kerbside pickup for households.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corporate take-back reporting.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informal dealers as aggregators.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shows a tech city can lead on formal recycling but needs household-level reach.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KSPCB - list of authorised e-waste recyclers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- state-wise e-waste inventory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E-Parisaraa Pvt Ltd - company material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hub means high corporate e-waste.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KSPCB authorises; E-Parisaraa is the example.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household e-waste goes to informal market.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e-kiosks, CSR, aggregators.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why is Bengaluru called the e-waste capital?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Mumbai's E-Waste Ecosystem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combines high e-waste generation with a hybrid ecosystem of informal markets, refurbishers and authorised recyclers.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ranks at or near the top of Indian states by e-waste volume (CPCB).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electronics markets (e.g., Lamington Road) and port-linked trade in used goods.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dismantling clusters in areas like Govandi, Mankhurd and Dharavi.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recyclers such as Eco Recycling Ltd (Ecoreco) process under MPCB authorisation.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and refurbishing markets extend product life.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and NGOs run collection drives and awareness events.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Maharashtra among top e-waste generators (CPCB)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clusters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Govandi, Mankhurd, Dharavi dismantling hubs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player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 Recycling Ltd (Ecoreco), MPCB-authorised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channel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and refurbishing markets (Lamington Road)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repair-and-reuse culture, many recyclers, port and market access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informal dismantling; weak household channels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informal workers into formal chains; urban mining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leaching, open burning, illegal imports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Delhi-NCR and Bengaluru but with a denser informal cluster.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Zurich, formal take-back is not the default route.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culture is a strength India can build on.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informal dismantlers as authorised collectors.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ward-level drop-off points.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safety training and protective equipment.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Mumbai's hybrid system shows both potential and risk.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informal workers safely is the key step.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MPCB - authorised e-waste recyclers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- e-waste inventory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Recycling Ltd (Ecoreco) - company reports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informal + refurbishers + authorised recyclers.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is a top generator.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Hazards: acid leaching, open burning.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register informal workers, ward drop-offs.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describe Mumbai's e-waste chain.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Kerala's Clean Kerala Company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Kerala Company Ltd (CKCL), set up by the state government, builds a state-wide channel for non-biodegradable waste and e-waste.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with Haritha Karma Sena (HKS) collectors and local bodies.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in 2007 under the Local Self-Government Department as a government company.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literacy, dense settlement and limited landfill space.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the Suchitwa Mission and Haritha Keralam Mission.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HKS (mostly women) collect non-biodegradable waste door-to-door for a user fee.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collection facilities and CKCL move waste to authorised recyclers.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e-waste drives with local bodies and authorised recyclers.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2007, Government of Kerala company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HKS: ~30,000+ members, mostly women (approx.)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local bodies in Kerala (approx.)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fees + sale of recyclables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backing, community workforce, high public awareness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fee compliance; e-waste small next to plastics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with EPR producers; app-based pickup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gaps, falling prices of recyclables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State-led community model; other states depend more on private recyclers.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Pune's SWaCH than Bengaluru's corporate model.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community collectors can scale statewide.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HKS-style collectors in other states.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e-waste as a fixed periodic pickup category.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with EPR producers for funding.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CKCL shows how a state agency plus community workers can run reliable collection.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needs a stronger, EPR-funded stream.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Kerala Company Ltd - official website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Suchitwa Mission, Government of Kerala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LSGD - Haritha Keralam Mission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CKCL: 2007, government company.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Haritha Karma Sena = door-to-door collectors.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user fees + recyclables.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state + community partnership.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how does CKCL organise waste collection?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Pune's SWaCH Model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 is India's first wholly owned cooperative of self-employed waste pickers, partnered with Pune Municipal Corporation (PMC).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waste pickers formal identity and income while delivering door-to-door service.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picker union KKPKP began organising in the 1990s.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 cooperative was formed in 2008 in partnership with PMC.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segregated collection and dignity of work.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collect segregated waste door-to-door and charge households a monthly fee.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recognises SWaCH through an agreement and ID cards.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waste, including small e-waste, is routed to recyclers.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Cooperative of self-employed waste pickers (2008)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~3,000+ waste pickers (approx.)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a million households in Pune (approx.)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fees + scrap sale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ownership, city partnership, strong civil society backing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PMC contracts; fee collection challenges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e-waste collection; replicate in other cities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Privatisation of city contracts, policy shifts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of informal-sector integration; most Indian cities still exclude waste pickers.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Contrasts with Switzerland's fully formal system.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inclusion and efficiency can go together.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cooperative model in other cities.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waste pickers formal e-waste collection roles under EPR.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long-term municipal contracts.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 proves waste pickers can be partners, not problems.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it needs municipal commitment and EPR funding.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 Seva Sahakari Sanstha - official material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KKPKP - waste picker union documents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Municipal Corporation - solid waste management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 = cooperative of waste pickers with PMC (2008).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Income: user fee + scrap sale.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ID, dignity, segregation.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privatisation.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why is SWaCH a model for India?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Dharavi Recycling Ecosystem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Dharavi is one of Asia's largest informal recycling clusters, handling plastics, metals, paper and some e-waste.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the economic power of the informal sector and the risks it faces.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area in central Mumbai, roughly 2 sq km (approx.).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small units sort, clean, shred and resell materials.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Redevelopment plans threaten its business clusters.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chain: waste pickers, sorters, small processors, traders, manufacturers.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labour-intensive, near-zero landfill.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e-waste: manual dismantling, metal recovery and part resale.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~5,000-15,000 small units (estimates vary)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250,000+ in linked jobs (estimates vary)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cited ~US$1 billion/year (estimate)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Recycling share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share of Mumbai's plastic waste (60%+ estimated)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large workforce, quick reuse, near-zero waste chain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conditions, pollution, no legal recognition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via cooperatives and EPR partners; safety training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Redevelopment displacement, hazardous e-waste practices, health risks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model recovers value cheaply but with health and environmental cost.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models (Japan, Switzerland) are safer but costlier.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needs a hybrid: keep informal reach, add formal standards.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and register units as EPR collectors or aggregators.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safe dismantling zones with protective equipment.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livelihoods in redevelopment plans.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Dharavi shows informal recycling is efficient but unsafe.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Formalising it, not replacing it, is the sustainable path.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Corporation of Greater Mumbai - reports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studies on Dharavi's recycling economy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- e-waste guidelines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Dharavi = large informal recycling cluster.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pickers to sorters to processors to traders.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low cost, jobs. Cons: health, pollution.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hybrid formal-informal model.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strengths and risks of Dharavi.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972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Dell's Circular Economy Strategy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146304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combines take-back, recycled materials and design for reuse to move toward a circular economy.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links business goals with e-waste reduction.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has offered take-back since the 1990s; Dell Reconnect with Goodwill began in 2004.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goals: 100% recycled or renewable packaging and &gt;50% recycled or renewable product content.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 gives it influence on suppliers.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749808"/>
            <a:ext cx="3776472" cy="1389888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7863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INITIATIVE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996696"/>
            <a:ext cx="3593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consumer recycling and mail-back; business trade-in and asset recovery.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materials: recycled plastics, aluminium, carbon fibre, ocean-bound plastic.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Responsible-recycling partners with data destruction.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31136"/>
            <a:ext cx="5669280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67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recycling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reports &gt;2 billion lb of used electronics recovered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 packaging goal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recycled or renewable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 product goal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&gt;50% recycled or renewable content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Take-back + recycled content + design for reuse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6126480" y="2231136"/>
            <a:ext cx="5696712" cy="1627632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22677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05456"/>
            <a:ext cx="2711196" cy="658368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81928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scale, closed-loop supply chain, strong brand trust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020556" y="2505456"/>
            <a:ext cx="2711196" cy="658368"/>
          </a:xfrm>
          <a:prstGeom prst="rect">
            <a:avLst/>
          </a:prstGeom>
          <a:solidFill>
            <a:srgbClr val="FBE9C8"/>
          </a:solidFill>
          <a:ln w="12700">
            <a:solidFill>
              <a:srgbClr val="FBE9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84564" y="2532888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depends on customer participation; self-reported targets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3218688"/>
            <a:ext cx="2711196" cy="658368"/>
          </a:xfrm>
          <a:prstGeom prst="rect">
            <a:avLst/>
          </a:prstGeom>
          <a:solidFill>
            <a:srgbClr val="DCEAF5"/>
          </a:solidFill>
          <a:ln w="12700">
            <a:solidFill>
              <a:srgbClr val="DCEAF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81928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Refurbished sales, device-as-a-service, EPR leadership in India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20556" y="3218688"/>
            <a:ext cx="2711196" cy="658368"/>
          </a:xfrm>
          <a:prstGeom prst="rect">
            <a:avLst/>
          </a:prstGeom>
          <a:solidFill>
            <a:srgbClr val="F6D9D6"/>
          </a:solidFill>
          <a:ln w="12700">
            <a:solidFill>
              <a:srgbClr val="F6D9D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84564" y="3246120"/>
            <a:ext cx="25831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</a:t>
            </a:r>
            <a:pPr indent="0" marL="0">
              <a:buNone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material costs, greenwashing risk, competition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6576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INDIA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Indian producers meet EPR via certificates; Dell-style closed loops go beyond compliance.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India offers take-back through authorised recyclers under EPR.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producers can profit from circular design.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0624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9768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producers to publish verified recycled-content data.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trade-in and refurbished models in India.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repair and modular upgrade.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046720" y="3950208"/>
            <a:ext cx="3776472" cy="1371600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138160" y="398678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138160" y="4197096"/>
            <a:ext cx="35935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shows producer-led circularity is feasible at scale.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 is needed for credibility.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" y="5413248"/>
            <a:ext cx="5669280" cy="1243584"/>
          </a:xfrm>
          <a:prstGeom prst="rect">
            <a:avLst/>
          </a:prstGeom>
          <a:solidFill>
            <a:srgbClr val="EAEEF9"/>
          </a:solidFill>
          <a:ln w="12700">
            <a:solidFill>
              <a:srgbClr val="EAEEF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" y="54498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5660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Technologies - ESG and circular economy reports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 MacArthur Foundation - circular economy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- EPR guidelines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approximate; verify against the latest sources before submitting.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126480" y="5413248"/>
            <a:ext cx="5696712" cy="12435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17920" y="5449824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EXAM REVISION SHEET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660136"/>
            <a:ext cx="5513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 = keep materials in use.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tools: take-back, recycled content, modular design.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goals: 100% packaging, &gt;50% product content.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EPR: beyond compliance.</a:t>
            </a:r>
            <a:endParaRPr lang="en-US" sz="95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question: evaluate Dell's circular strategy.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A2736A46-D814-4DF6-80DF-92D0E39EA999}"/>
</file>

<file path=customXml/itemProps2.xml><?xml version="1.0" encoding="utf-8"?>
<ds:datastoreItem xmlns:ds="http://schemas.openxmlformats.org/officeDocument/2006/customXml" ds:itemID="{2C6207A9-D120-4ED1-8153-58E8F1ED8EB8}"/>
</file>

<file path=customXml/itemProps3.xml><?xml version="1.0" encoding="utf-8"?>
<ds:datastoreItem xmlns:ds="http://schemas.openxmlformats.org/officeDocument/2006/customXml" ds:itemID="{205F7B46-9844-4A55-9669-D579C522E85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E-Waste Case Studies - MSE 2</dc:title>
  <dc:subject>PptxGenJS Presentation</dc:subject>
  <dc:creator>KASIM GHANCHI</dc:creator>
  <cp:lastModifiedBy>KASIM GHANCHI</cp:lastModifiedBy>
  <cp:revision>1</cp:revision>
  <dcterms:created xsi:type="dcterms:W3CDTF">2026-09-29T04:14:20Z</dcterms:created>
  <dcterms:modified xsi:type="dcterms:W3CDTF">2026-09-29T04:14:20Z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