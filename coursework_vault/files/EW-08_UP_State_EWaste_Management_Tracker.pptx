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F7B73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938C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"/>
            <a:ext cx="5029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77D4A"/>
                </a:solidFill>
                <a:latin typeface="Inter"/>
              </a:rPr>
              <a:t>UTTAR PRADESH · E-WASTE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566928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8221D"/>
                </a:solidFill>
                <a:latin typeface="Inter"/>
              </a:rPr>
              <a:t>State E-Waste
Management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14600"/>
            <a:ext cx="50749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25048"/>
                </a:solidFill>
                <a:latin typeface="Inter"/>
              </a:rPr>
              <a:t>A data-led view of Uttar Pradesh’s current e-waste management position — scorecard performance, formal recycling capacity, compliance, hotspots and the gaps that need attention.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703320"/>
            <a:ext cx="4800600" cy="12700"/>
          </a:xfrm>
          <a:prstGeom prst="rect">
            <a:avLst/>
          </a:prstGeom>
          <a:solidFill>
            <a:srgbClr val="D9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F7B73"/>
                </a:solidFill>
                <a:latin typeface="Inter"/>
              </a:rPr>
              <a:t>Tracker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61104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40" b="0" i="0">
                <a:solidFill>
                  <a:srgbClr val="10251C"/>
                </a:solidFill>
                <a:latin typeface="Inter"/>
              </a:rPr>
              <a:t>15 districts  ·  60.49M population  ·  388,000 t/yr listed capacity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4983480"/>
            <a:ext cx="347472" cy="347472"/>
          </a:xfrm>
          <a:prstGeom prst="ellipse">
            <a:avLst/>
          </a:prstGeom>
          <a:solidFill>
            <a:srgbClr val="E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992624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0251C"/>
                </a:solidFill>
                <a:latin typeface="Inter"/>
              </a:rPr>
              <a:t>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992624"/>
            <a:ext cx="1280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F7B73"/>
                </a:solidFill>
                <a:latin typeface="Inter"/>
              </a:rPr>
              <a:t>Live workbook score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4892040"/>
            <a:ext cx="14630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7D4A"/>
                </a:solidFill>
                <a:latin typeface="Inter"/>
              </a:rPr>
              <a:t>20.5 /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5001768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0251C"/>
                </a:solidFill>
                <a:latin typeface="Inter"/>
              </a:rPr>
              <a:t>Critical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777240"/>
            <a:ext cx="4983480" cy="5230368"/>
          </a:xfrm>
          <a:prstGeom prst="roundRect">
            <a:avLst/>
          </a:prstGeom>
          <a:solidFill>
            <a:srgbClr val="F0F4F1"/>
          </a:solidFill>
          <a:ln w="10160">
            <a:solidFill>
              <a:srgbClr val="F0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1417319"/>
            <a:ext cx="2926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1527048"/>
            <a:ext cx="42062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7D4A"/>
                </a:solidFill>
                <a:latin typeface="Inter"/>
              </a:rPr>
              <a:t>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600199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Computers &amp; peripherals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505456"/>
            <a:ext cx="2606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 i="0">
                <a:solidFill>
                  <a:srgbClr val="6F7B73"/>
                </a:solidFill>
                <a:latin typeface="Inter"/>
              </a:rPr>
              <a:t>Formal handling depends on complete reporting and traceable collection.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697480"/>
            <a:ext cx="23774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2807208"/>
            <a:ext cx="42062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7D4A"/>
                </a:solidFill>
                <a:latin typeface="Inter"/>
              </a:rPr>
              <a:t>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1" y="2880360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Mobile &amp; consumer electronics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694176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 i="0">
                <a:solidFill>
                  <a:srgbClr val="6F7B73"/>
                </a:solidFill>
                <a:latin typeface="Inter"/>
              </a:rPr>
              <a:t>Formal handling depends on complete reporting and traceable collection.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023359"/>
            <a:ext cx="32004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4133087"/>
            <a:ext cx="42062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7D4A"/>
                </a:solidFill>
                <a:latin typeface="Inter"/>
              </a:rPr>
              <a:t>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4206240"/>
            <a:ext cx="23774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Appliances &amp; electrical equipment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5202936"/>
            <a:ext cx="2880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 i="0">
                <a:solidFill>
                  <a:srgbClr val="6F7B73"/>
                </a:solidFill>
                <a:latin typeface="Inter"/>
              </a:rPr>
              <a:t>Formal handling depends on complete reporting and traceable collection.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846320"/>
            <a:ext cx="1371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1472" y="4956048"/>
            <a:ext cx="420624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77D4A"/>
                </a:solidFill>
                <a:latin typeface="Inter"/>
              </a:rPr>
              <a:t>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1" y="5029200"/>
            <a:ext cx="5486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Batteries &amp; other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5294376"/>
            <a:ext cx="1051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 i="0">
                <a:solidFill>
                  <a:srgbClr val="6F7B73"/>
                </a:solidFill>
                <a:latin typeface="Inter"/>
              </a:rPr>
              <a:t>Formal handling depends on complete reporting and traceable collection.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199632"/>
            <a:ext cx="10424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 i="0">
                <a:solidFill>
                  <a:srgbClr val="7F8B84"/>
                </a:solidFill>
                <a:latin typeface="Inter"/>
              </a:rPr>
              <a:t>Source: State_EWaste_Tracker_Final(1).xlsx · current populated workbook values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011680"/>
            <a:ext cx="5212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94934"/>
                </a:solidFill>
                <a:latin typeface="Aptos"/>
              </a:defRPr>
            </a:pPr>
            <a:r>
              <a:t>Kasim Ghanchi · 24102C0015    |    Ali Mehdi Mirza · 24102C0054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32004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01 ·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F7B73"/>
                </a:solidFill>
                <a:latin typeface="Inter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938C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8"/>
            <a:ext cx="10561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8221D"/>
                </a:solidFill>
                <a:latin typeface="Inter"/>
              </a:rPr>
              <a:t>Uttar Pradesh is currently rated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73"/>
                </a:solidFill>
                <a:latin typeface="Inter"/>
              </a:rPr>
              <a:t>The workbook’s live score is 20.5 / 100. The result reflects populated fields and benchmark logic — not an external 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278892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9424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STATE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14630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 i="0">
                <a:solidFill>
                  <a:srgbClr val="18221D"/>
                </a:solidFill>
                <a:latin typeface="Inter"/>
              </a:rPr>
              <a:t>20.5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880360"/>
            <a:ext cx="7315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F7B73"/>
                </a:solidFill>
                <a:latin typeface="Inter"/>
              </a:rPr>
              <a:t>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1371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77D4A"/>
                </a:solidFill>
                <a:latin typeface="Inter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2011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F7B73"/>
                </a:solidFill>
                <a:latin typeface="Inter"/>
              </a:rPr>
              <a:t>45+ is the next band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3055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F7B73"/>
                </a:solidFill>
                <a:latin typeface="Inter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084831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0251C"/>
                </a:solidFill>
                <a:latin typeface="Inter"/>
              </a:rPr>
              <a:t>Generation &amp;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48272" y="2112263"/>
            <a:ext cx="2377440" cy="164592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2075688"/>
            <a:ext cx="4389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3496" y="2075688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/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6334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F7B73"/>
                </a:solidFill>
                <a:latin typeface="Inte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587752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0251C"/>
                </a:solidFill>
                <a:latin typeface="Inter"/>
              </a:rPr>
              <a:t>Collection 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8272" y="2615184"/>
            <a:ext cx="2377440" cy="164592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78608"/>
            <a:ext cx="4389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3496" y="2578608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/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13639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F7B73"/>
                </a:solidFill>
                <a:latin typeface="Inte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3090672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0251C"/>
                </a:solidFill>
                <a:latin typeface="Inter"/>
              </a:rPr>
              <a:t>Formal Recycling &amp; Treatment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48272" y="3118103"/>
            <a:ext cx="2377440" cy="164592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3081528"/>
            <a:ext cx="4389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3081528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/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63931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F7B73"/>
                </a:solidFill>
                <a:latin typeface="Inter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593591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0251C"/>
                </a:solidFill>
                <a:latin typeface="Inter"/>
              </a:rPr>
              <a:t>Regulatory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48272" y="3621023"/>
            <a:ext cx="2377440" cy="164592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48272" y="3621023"/>
            <a:ext cx="2377440" cy="164592"/>
          </a:xfrm>
          <a:prstGeom prst="rect">
            <a:avLst/>
          </a:prstGeom>
          <a:solidFill>
            <a:srgbClr val="177D4A"/>
          </a:solidFill>
          <a:ln w="10160">
            <a:solidFill>
              <a:srgbClr val="17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0304" y="3584448"/>
            <a:ext cx="4389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15.0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3496" y="3584448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/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14223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F7B73"/>
                </a:solidFill>
                <a:latin typeface="Inter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4096512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0251C"/>
                </a:solidFill>
                <a:latin typeface="Inter"/>
              </a:rPr>
              <a:t>Informal Sector Integration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48272" y="4123944"/>
            <a:ext cx="2377440" cy="164592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4087368"/>
            <a:ext cx="4389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0.0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4087368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/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64515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F7B73"/>
                </a:solidFill>
                <a:latin typeface="Inter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2" y="4599431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0251C"/>
                </a:solidFill>
                <a:latin typeface="Inter"/>
              </a:rPr>
              <a:t>Environmental &amp; Health Safeguards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48272" y="4626864"/>
            <a:ext cx="2377440" cy="164592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48272" y="4626864"/>
            <a:ext cx="1188720" cy="164592"/>
          </a:xfrm>
          <a:prstGeom prst="rect">
            <a:avLst/>
          </a:prstGeom>
          <a:solidFill>
            <a:srgbClr val="177D4A"/>
          </a:solidFill>
          <a:ln w="10160">
            <a:solidFill>
              <a:srgbClr val="17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0304" y="4590288"/>
            <a:ext cx="4389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5.0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83496" y="4590288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/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5148072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F7B73"/>
                </a:solidFill>
                <a:latin typeface="Inter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2" y="5102352"/>
            <a:ext cx="24231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0251C"/>
                </a:solidFill>
                <a:latin typeface="Inter"/>
              </a:rPr>
              <a:t>Awareness &amp; Outreach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48272" y="5129784"/>
            <a:ext cx="2377440" cy="164592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48272" y="5129784"/>
            <a:ext cx="118872" cy="164592"/>
          </a:xfrm>
          <a:prstGeom prst="rect">
            <a:avLst/>
          </a:prstGeom>
          <a:solidFill>
            <a:srgbClr val="177D4A"/>
          </a:solidFill>
          <a:ln w="10160">
            <a:solidFill>
              <a:srgbClr val="17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0304" y="5093208"/>
            <a:ext cx="4389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0.5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83496" y="5093208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/ 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69880" y="2011680"/>
            <a:ext cx="914400" cy="2743200"/>
          </a:xfrm>
          <a:prstGeom prst="roundRect">
            <a:avLst/>
          </a:prstGeom>
          <a:solidFill>
            <a:srgbClr val="E8F1EC"/>
          </a:solidFill>
          <a:ln w="10160">
            <a:solidFill>
              <a:srgbClr val="E8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52760" y="2276856"/>
            <a:ext cx="5486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177D4A"/>
                </a:solidFill>
                <a:latin typeface="Inter"/>
              </a:rPr>
              <a:t>PRIMARY
SIGNAL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25328" y="3017520"/>
            <a:ext cx="5943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8221D"/>
                </a:solidFill>
                <a:latin typeface="Inter"/>
              </a:rPr>
              <a:t>20.5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88752" y="3520440"/>
            <a:ext cx="6400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10251C"/>
                </a:solidFill>
                <a:latin typeface="Inter"/>
              </a:rPr>
              <a:t>points are
currently earned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" y="4773168"/>
            <a:ext cx="914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Key caution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00200" y="4736592"/>
            <a:ext cx="97840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0251C"/>
                </a:solidFill>
                <a:latin typeface="Inter"/>
              </a:rPr>
              <a:t>Generation, collection and informal-sector numeric fields are incomplete in the workbook, so the score can understate actual performance. The score should be read as a data-readiness signal as much as an outcome score.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6199632"/>
            <a:ext cx="10424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 i="0">
                <a:solidFill>
                  <a:srgbClr val="7F8B84"/>
                </a:solidFill>
                <a:latin typeface="Inter"/>
              </a:rPr>
              <a:t>Source: 0_Scorecard + 1_Generation_Inventory + 2_Collection_Log + 5_Informal_Sector_Hotspots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32004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02 · STATE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F7B73"/>
                </a:solidFill>
                <a:latin typeface="Inter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938C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8"/>
            <a:ext cx="10561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8221D"/>
                </a:solidFill>
                <a:latin typeface="Inter"/>
              </a:rPr>
              <a:t>The tracker covers a broad state footprint, but reporting is uneven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73"/>
                </a:solidFill>
                <a:latin typeface="Inter"/>
              </a:rPr>
              <a:t>District, recycling, hotspot, environmental and awareness data are present at different levels of completeness.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2103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12848"/>
            <a:ext cx="1645919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96896"/>
            <a:ext cx="1645919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District rows in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761488"/>
            <a:ext cx="1645919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State total population is 60.49M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011680"/>
            <a:ext cx="2103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7248" y="201168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212848"/>
            <a:ext cx="1645919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60.49M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96896"/>
            <a:ext cx="1645919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Population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61488"/>
            <a:ext cx="1645919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Population field in tracker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2011680"/>
            <a:ext cx="2103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31536" y="201168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2212848"/>
            <a:ext cx="1645919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596896"/>
            <a:ext cx="1645919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Named recycler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2761488"/>
            <a:ext cx="1645919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125 authorized units stated in total row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35824" y="2011680"/>
            <a:ext cx="2103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35824" y="201168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1856" y="2212848"/>
            <a:ext cx="1645919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2596896"/>
            <a:ext cx="1645919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Informal hotspots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2761488"/>
            <a:ext cx="1645919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0 formalized / remediated in totals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40112" y="2011680"/>
            <a:ext cx="13258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40112" y="201168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96144" y="2212848"/>
            <a:ext cx="86868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4" y="2596896"/>
            <a:ext cx="8686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Monitored sites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96144" y="2761488"/>
            <a:ext cx="8686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Environmental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3584448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0251C"/>
                </a:solidFill>
                <a:latin typeface="Inter"/>
              </a:rPr>
              <a:t>What is actually populated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3886200"/>
            <a:ext cx="73152" cy="201168"/>
          </a:xfrm>
          <a:prstGeom prst="rect">
            <a:avLst/>
          </a:prstGeom>
          <a:solidFill>
            <a:srgbClr val="C8DCD1"/>
          </a:solidFill>
          <a:ln w="10160">
            <a:solidFill>
              <a:srgbClr val="C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3877056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877056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F7B73"/>
                </a:solidFill>
                <a:latin typeface="Inter"/>
              </a:rPr>
              <a:t>District names + population; category quantities mostly blank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4197096"/>
            <a:ext cx="73152" cy="201168"/>
          </a:xfrm>
          <a:prstGeom prst="rect">
            <a:avLst/>
          </a:prstGeom>
          <a:solidFill>
            <a:srgbClr val="B9D4C5"/>
          </a:solidFill>
          <a:ln w="10160">
            <a:solidFill>
              <a:srgbClr val="B9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187952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Collection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187952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F7B73"/>
                </a:solidFill>
                <a:latin typeface="Inter"/>
              </a:rPr>
              <a:t>State collected total populated; district-level collection fields blank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" y="4507992"/>
            <a:ext cx="73152" cy="201168"/>
          </a:xfrm>
          <a:prstGeom prst="rect">
            <a:avLst/>
          </a:prstGeom>
          <a:solidFill>
            <a:srgbClr val="177D4A"/>
          </a:solidFill>
          <a:ln w="10160">
            <a:solidFill>
              <a:srgbClr val="17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498848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Formal recycling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498848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F7B73"/>
                </a:solidFill>
                <a:latin typeface="Inter"/>
              </a:rPr>
              <a:t>388,000 t/yr capacity; 376,896.74 t processed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" y="4818888"/>
            <a:ext cx="73152" cy="201168"/>
          </a:xfrm>
          <a:prstGeom prst="rect">
            <a:avLst/>
          </a:prstGeom>
          <a:solidFill>
            <a:srgbClr val="78D3A1"/>
          </a:solidFill>
          <a:ln w="10160">
            <a:solidFill>
              <a:srgbClr val="78D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4809744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Compliance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809744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F7B73"/>
                </a:solidFill>
                <a:latin typeface="Inter"/>
              </a:rPr>
              <a:t>One aggregate EPR row marked compliant; inspections recorded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5129784"/>
            <a:ext cx="73152" cy="201168"/>
          </a:xfrm>
          <a:prstGeom prst="rect">
            <a:avLst/>
          </a:prstGeom>
          <a:solidFill>
            <a:srgbClr val="B9D4C5"/>
          </a:solidFill>
          <a:ln w="10160">
            <a:solidFill>
              <a:srgbClr val="B9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5120640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Informal sector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5120640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F7B73"/>
                </a:solidFill>
                <a:latin typeface="Inter"/>
              </a:rPr>
              <a:t>4 hotspots listed; worker counts not populated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" y="5440680"/>
            <a:ext cx="73152" cy="201168"/>
          </a:xfrm>
          <a:prstGeom prst="rect">
            <a:avLst/>
          </a:prstGeom>
          <a:solidFill>
            <a:srgbClr val="B9D4C5"/>
          </a:solidFill>
          <a:ln w="10160">
            <a:solidFill>
              <a:srgbClr val="B9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5431536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Environment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5431536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F7B73"/>
                </a:solidFill>
                <a:latin typeface="Inter"/>
              </a:rPr>
              <a:t>2 distinct sites monitored; 0 health camps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" y="5751576"/>
            <a:ext cx="73152" cy="201168"/>
          </a:xfrm>
          <a:prstGeom prst="rect">
            <a:avLst/>
          </a:prstGeom>
          <a:solidFill>
            <a:srgbClr val="C8DCD1"/>
          </a:solidFill>
          <a:ln w="10160">
            <a:solidFill>
              <a:srgbClr val="C8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5742432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Awareness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5742432"/>
            <a:ext cx="8138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6F7B73"/>
                </a:solidFill>
                <a:latin typeface="Inter"/>
              </a:rPr>
              <a:t>1 program recorded; 0 participants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61320" y="3584448"/>
            <a:ext cx="86868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98480" y="3813048"/>
            <a:ext cx="5943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177D4A"/>
                </a:solidFill>
                <a:latin typeface="Inter"/>
              </a:rPr>
              <a:t>DATA
READINESS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71048" y="4617720"/>
            <a:ext cx="6583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8221D"/>
                </a:solidFill>
                <a:latin typeface="Inter"/>
              </a:rPr>
              <a:t>High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5010912"/>
            <a:ext cx="676656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F7B73"/>
                </a:solidFill>
                <a:latin typeface="Inter"/>
              </a:rPr>
              <a:t>coverage,
low field
completeness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6199632"/>
            <a:ext cx="10424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 i="0">
                <a:solidFill>
                  <a:srgbClr val="7F8B84"/>
                </a:solidFill>
                <a:latin typeface="Inter"/>
              </a:rPr>
              <a:t>Source: All 7 numbered data sheets; values shown as stored in workbook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32004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03 · FORMAL RECYCLING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F7B73"/>
                </a:solidFill>
                <a:latin typeface="Inter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938C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8"/>
            <a:ext cx="10561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8221D"/>
                </a:solidFill>
                <a:latin typeface="Inter"/>
              </a:rPr>
              <a:t>Formal recycling infrastructure is the strongest operational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73"/>
                </a:solidFill>
                <a:latin typeface="Inter"/>
              </a:rPr>
              <a:t>Five recycler / dismantler rows are named, with 388,000 tonnes/year installed capacity and 376,896.74 tonnes processed this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6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0251C"/>
                </a:solidFill>
                <a:latin typeface="Inter"/>
              </a:rPr>
              <a:t>Installed capacity vs processed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 i="0">
                <a:solidFill>
                  <a:srgbClr val="6F7B73"/>
                </a:solidFill>
                <a:latin typeface="Inter"/>
              </a:rPr>
              <a:t>Installed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2761488"/>
            <a:ext cx="2926080" cy="329184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2761488"/>
            <a:ext cx="2786742" cy="329184"/>
          </a:xfrm>
          <a:prstGeom prst="rect">
            <a:avLst/>
          </a:prstGeom>
          <a:solidFill>
            <a:srgbClr val="177D4A"/>
          </a:solidFill>
          <a:ln w="10160">
            <a:solidFill>
              <a:srgbClr val="17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2734056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388,000.00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3716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0" i="0">
                <a:solidFill>
                  <a:srgbClr val="6F7B73"/>
                </a:solidFill>
                <a:latin typeface="Inter"/>
              </a:rPr>
              <a:t>Processed this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3675887"/>
            <a:ext cx="2926080" cy="329184"/>
          </a:xfrm>
          <a:prstGeom prst="rect">
            <a:avLst/>
          </a:prstGeom>
          <a:solidFill>
            <a:srgbClr val="EEF3F0"/>
          </a:solidFill>
          <a:ln w="10160">
            <a:solidFill>
              <a:srgbClr val="E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3675887"/>
            <a:ext cx="2706995" cy="329184"/>
          </a:xfrm>
          <a:prstGeom prst="rect">
            <a:avLst/>
          </a:prstGeom>
          <a:solidFill>
            <a:srgbClr val="78D3A1"/>
          </a:solidFill>
          <a:ln w="10160">
            <a:solidFill>
              <a:srgbClr val="78D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3648456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8221D"/>
                </a:solidFill>
                <a:latin typeface="Inter"/>
              </a:rPr>
              <a:t>376,896.74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5720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77D4A"/>
                </a:solidFill>
                <a:latin typeface="Inter"/>
              </a:rPr>
              <a:t>97.1% of listed capacity is represented as processed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5740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0251C"/>
                </a:solidFill>
                <a:latin typeface="Inter"/>
              </a:rPr>
              <a:t>Named facilities</a:t>
            </a:r>
          </a:p>
        </p:txBody>
      </p:sp>
      <p:sp>
        <p:nvSpPr>
          <p:cNvPr id="19" name="Oval 18"/>
          <p:cNvSpPr/>
          <p:nvPr/>
        </p:nvSpPr>
        <p:spPr>
          <a:xfrm>
            <a:off x="6236208" y="2532888"/>
            <a:ext cx="146304" cy="146304"/>
          </a:xfrm>
          <a:prstGeom prst="ellipse">
            <a:avLst/>
          </a:prstGeom>
          <a:solidFill>
            <a:srgbClr val="E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523744"/>
            <a:ext cx="1463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77D4A"/>
                </a:solidFill>
                <a:latin typeface="Inter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505456"/>
            <a:ext cx="33375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10251C"/>
                </a:solidFill>
                <a:latin typeface="Inter"/>
              </a:rPr>
              <a:t>Attero Recycling Pvt. Ltd.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734056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Gautam Buddha Nagar · 120,000 t/yr · 96,000 t processed</a:t>
            </a:r>
          </a:p>
        </p:txBody>
      </p:sp>
      <p:sp>
        <p:nvSpPr>
          <p:cNvPr id="23" name="Oval 22"/>
          <p:cNvSpPr/>
          <p:nvPr/>
        </p:nvSpPr>
        <p:spPr>
          <a:xfrm>
            <a:off x="6236208" y="3127248"/>
            <a:ext cx="146304" cy="146304"/>
          </a:xfrm>
          <a:prstGeom prst="ellipse">
            <a:avLst/>
          </a:prstGeom>
          <a:solidFill>
            <a:srgbClr val="E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3118103"/>
            <a:ext cx="1463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77D4A"/>
                </a:solidFill>
                <a:latin typeface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099816"/>
            <a:ext cx="33375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10251C"/>
                </a:solidFill>
                <a:latin typeface="Inter"/>
              </a:rPr>
              <a:t>Greenex Eco Recycling Pvt. Ltd.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328415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Ghaziabad · 24,000 t/yr · 18,500 t processed</a:t>
            </a:r>
          </a:p>
        </p:txBody>
      </p:sp>
      <p:sp>
        <p:nvSpPr>
          <p:cNvPr id="27" name="Oval 26"/>
          <p:cNvSpPr/>
          <p:nvPr/>
        </p:nvSpPr>
        <p:spPr>
          <a:xfrm>
            <a:off x="6236208" y="3721607"/>
            <a:ext cx="146304" cy="146304"/>
          </a:xfrm>
          <a:prstGeom prst="ellipse">
            <a:avLst/>
          </a:prstGeom>
          <a:solidFill>
            <a:srgbClr val="E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3712463"/>
            <a:ext cx="1463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77D4A"/>
                </a:solidFill>
                <a:latin typeface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694176"/>
            <a:ext cx="33375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10251C"/>
                </a:solidFill>
                <a:latin typeface="Inter"/>
              </a:rPr>
              <a:t>Horizon Recycling Pvt.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922776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Moradabad · 18,000 t/yr · 14,200 t processed</a:t>
            </a:r>
          </a:p>
        </p:txBody>
      </p:sp>
      <p:sp>
        <p:nvSpPr>
          <p:cNvPr id="31" name="Oval 30"/>
          <p:cNvSpPr/>
          <p:nvPr/>
        </p:nvSpPr>
        <p:spPr>
          <a:xfrm>
            <a:off x="6236208" y="4315968"/>
            <a:ext cx="146304" cy="146304"/>
          </a:xfrm>
          <a:prstGeom prst="ellipse">
            <a:avLst/>
          </a:prstGeom>
          <a:solidFill>
            <a:srgbClr val="E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4306824"/>
            <a:ext cx="1463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77D4A"/>
                </a:solidFill>
                <a:latin typeface="Inter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288536"/>
            <a:ext cx="33375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10251C"/>
                </a:solidFill>
                <a:latin typeface="Inter"/>
              </a:rPr>
              <a:t>Sims Recycling Solutions India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517136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Gautam Buddha Nagar · 35,000 t/yr · 28,000 t processed</a:t>
            </a:r>
          </a:p>
        </p:txBody>
      </p:sp>
      <p:sp>
        <p:nvSpPr>
          <p:cNvPr id="35" name="Oval 34"/>
          <p:cNvSpPr/>
          <p:nvPr/>
        </p:nvSpPr>
        <p:spPr>
          <a:xfrm>
            <a:off x="6236208" y="4910327"/>
            <a:ext cx="146304" cy="146304"/>
          </a:xfrm>
          <a:prstGeom prst="ellipse">
            <a:avLst/>
          </a:prstGeom>
          <a:solidFill>
            <a:srgbClr val="E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4901183"/>
            <a:ext cx="14630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177D4A"/>
                </a:solidFill>
                <a:latin typeface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4882896"/>
            <a:ext cx="33375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0" b="1" i="0">
                <a:solidFill>
                  <a:srgbClr val="10251C"/>
                </a:solidFill>
                <a:latin typeface="Inter"/>
              </a:rPr>
              <a:t>Bharat Oil &amp; Waste Management Ltd.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5111496"/>
            <a:ext cx="36576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Kanpur Nagar · 15,000 t/yr · 11,000 t processed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559552"/>
            <a:ext cx="4572000" cy="438912"/>
          </a:xfrm>
          <a:prstGeom prst="roundRect">
            <a:avLst/>
          </a:prstGeom>
          <a:solidFill>
            <a:srgbClr val="E8F1EC"/>
          </a:solidFill>
          <a:ln w="10160">
            <a:solidFill>
              <a:srgbClr val="E8F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650992"/>
            <a:ext cx="4160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0251C"/>
                </a:solidFill>
                <a:latin typeface="Inter"/>
              </a:rPr>
              <a:t>Workbook total row: 125 authorized units · 388,000 t/yr capacity · 376,896.74 t processed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199632"/>
            <a:ext cx="10424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 i="0">
                <a:solidFill>
                  <a:srgbClr val="7F8B84"/>
                </a:solidFill>
                <a:latin typeface="Inter"/>
              </a:rPr>
              <a:t>Source: 3_Recycling_Infrastructure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32004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04 · COMPLIANCE &amp;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F7B73"/>
                </a:solidFill>
                <a:latin typeface="Inter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938C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8"/>
            <a:ext cx="10561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8221D"/>
                </a:solidFill>
                <a:latin typeface="Inter"/>
              </a:rPr>
              <a:t>Compliance is fully credited in the current scorecard, while safeguards show partial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73"/>
                </a:solidFill>
                <a:latin typeface="Inter"/>
              </a:rPr>
              <a:t>The workbook records one compliant aggregate EPR row and two environmental monitoring sites, but no health camps or beneficiary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365760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21945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REGULATORY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61488"/>
            <a:ext cx="155448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8221D"/>
                </a:solidFill>
                <a:latin typeface="Inter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64992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F7B73"/>
                </a:solidFill>
                <a:latin typeface="Inter"/>
              </a:rPr>
              <a:t>compliance score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22191"/>
            <a:ext cx="1554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Compliant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822191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77D4A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51376"/>
            <a:ext cx="1554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Registered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51376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77D4A"/>
                </a:solidFill>
                <a:latin typeface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59"/>
            <a:ext cx="1554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Inspections 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480559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77D4A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09744"/>
            <a:ext cx="1554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0251C"/>
                </a:solidFill>
                <a:latin typeface="Inter"/>
              </a:rPr>
              <a:t>Inspections conducted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809744"/>
            <a:ext cx="548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177D4A"/>
                </a:solidFill>
                <a:latin typeface="Inte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3317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ENVIRONMENTAL &amp; HEALTH SAFEGUARDS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2743200"/>
            <a:ext cx="2011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274320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9512" y="2944368"/>
            <a:ext cx="155448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3328416"/>
            <a:ext cx="1554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Distinct sites monitored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447288"/>
            <a:ext cx="15544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Moradabad + Ghaziabad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2743200"/>
            <a:ext cx="2011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78040" y="274320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1" y="2944368"/>
            <a:ext cx="155448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3328416"/>
            <a:ext cx="1554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Health camps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1" y="3447288"/>
            <a:ext cx="15544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No camps recorded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72600" y="2743200"/>
            <a:ext cx="2011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74320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632" y="2944368"/>
            <a:ext cx="155448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3328416"/>
            <a:ext cx="1554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Beneficiaries screened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8632" y="3447288"/>
            <a:ext cx="15544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No beneficiary count recorded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4160520"/>
            <a:ext cx="64008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0368" y="4261104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 i="0">
                <a:solidFill>
                  <a:srgbClr val="10251C"/>
                </a:solidFill>
                <a:latin typeface="Inter"/>
              </a:rPr>
              <a:t>Moradabad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261104"/>
            <a:ext cx="1691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Heavy metals in soil + water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4233672"/>
            <a:ext cx="30632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 i="0">
                <a:solidFill>
                  <a:srgbClr val="10251C"/>
                </a:solidFill>
                <a:latin typeface="Inter"/>
              </a:rPr>
              <a:t>Exceeds permissible limits near informal sites; remediation ordered by NGT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873752"/>
            <a:ext cx="64008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49743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70" b="1" i="0">
                <a:solidFill>
                  <a:srgbClr val="10251C"/>
                </a:solidFill>
                <a:latin typeface="Inter"/>
              </a:rPr>
              <a:t>Ghaziabad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974336"/>
            <a:ext cx="16916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Water + ambient air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4946904"/>
            <a:ext cx="30632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 i="0">
                <a:solidFill>
                  <a:srgbClr val="10251C"/>
                </a:solidFill>
                <a:latin typeface="Inter"/>
              </a:rPr>
              <a:t>High particulate and chemical effluent traces; monitoring active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199632"/>
            <a:ext cx="10424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 i="0">
                <a:solidFill>
                  <a:srgbClr val="7F8B84"/>
                </a:solidFill>
                <a:latin typeface="Inter"/>
              </a:rPr>
              <a:t>Source: 4_Compliance_Tracker + 6_Env_Health_Monitoring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32004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05 · REACH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F7B73"/>
                </a:solidFill>
                <a:latin typeface="Inter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938C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8"/>
            <a:ext cx="10561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8221D"/>
                </a:solidFill>
                <a:latin typeface="Inter"/>
              </a:rPr>
              <a:t>The tracker shows hotspots and awareness activity — but participation data is largely missing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73"/>
                </a:solidFill>
                <a:latin typeface="Inter"/>
              </a:rPr>
              <a:t>This is where the workbook most clearly separates “program exists” from “impact is measurable.”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057400"/>
            <a:ext cx="21945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05740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42616"/>
            <a:ext cx="17373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Informal hotspots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44368"/>
            <a:ext cx="17373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All four remain non-formalized in totals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6976" y="2057400"/>
            <a:ext cx="21945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6976" y="205740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258568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642616"/>
            <a:ext cx="17373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Awareness programs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944368"/>
            <a:ext cx="17373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State-wide UPPCB drive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32704" y="2057400"/>
            <a:ext cx="21945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32704" y="205740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2258568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2642616"/>
            <a:ext cx="17373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Participants reached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2944368"/>
            <a:ext cx="17373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Field left blank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2057400"/>
            <a:ext cx="21945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2057400"/>
            <a:ext cx="3621024" cy="25400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3" y="2258568"/>
            <a:ext cx="17373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8221D"/>
                </a:solidFill>
                <a:latin typeface="Inter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3" y="2642616"/>
            <a:ext cx="17373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 i="0">
                <a:solidFill>
                  <a:srgbClr val="10251C"/>
                </a:solidFill>
                <a:latin typeface="Inter"/>
              </a:rPr>
              <a:t>Collection drives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2944368"/>
            <a:ext cx="17373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F7B73"/>
                </a:solidFill>
                <a:latin typeface="Inter"/>
              </a:rPr>
              <a:t>School + RWA drives recorded as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3703320"/>
            <a:ext cx="507492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968496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INFORMAL-SECTOR HOTSPOTS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343400"/>
            <a:ext cx="2971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0251C"/>
                </a:solidFill>
                <a:latin typeface="Inter"/>
              </a:rPr>
              <a:t>Moradabad E-Waste Circuit Cluster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4343400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F7B73"/>
                </a:solidFill>
                <a:latin typeface="Inter"/>
              </a:rPr>
              <a:t>Moradabad · Under NGT Action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599432"/>
            <a:ext cx="2971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0251C"/>
                </a:solidFill>
                <a:latin typeface="Inter"/>
              </a:rPr>
              <a:t>Loni &amp; Seelampur Border Scrap Cluster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4599432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F7B73"/>
                </a:solidFill>
                <a:latin typeface="Inter"/>
              </a:rPr>
              <a:t>Ghaziabad · Under Enforcement Drive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855464"/>
            <a:ext cx="2971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0251C"/>
                </a:solidFill>
                <a:latin typeface="Inter"/>
              </a:rPr>
              <a:t>Dasna &amp; Masuri Informal Dismantling 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4855464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F7B73"/>
                </a:solidFill>
                <a:latin typeface="Inter"/>
              </a:rPr>
              <a:t>Ghaziabad · Partially Remediated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111496"/>
            <a:ext cx="2971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0251C"/>
                </a:solidFill>
                <a:latin typeface="Inter"/>
              </a:rPr>
              <a:t>Kanpur Unorganized E-Scrap Market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33087" y="5111496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F7B73"/>
                </a:solidFill>
                <a:latin typeface="Inter"/>
              </a:rPr>
              <a:t>Kanpur Nagar · Identified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3703320"/>
            <a:ext cx="521208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968496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AWARENESS PROGRAM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361688"/>
            <a:ext cx="4297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0251C"/>
                </a:solidFill>
                <a:latin typeface="Inter"/>
              </a:rPr>
              <a:t>UPPCB State-Wide E-Waste Awareness &amp; EPR Sensitization Drive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82803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6F7B73"/>
                </a:solidFill>
                <a:latin typeface="Inter"/>
              </a:rPr>
              <a:t>Target audience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828032"/>
            <a:ext cx="2194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10251C"/>
                </a:solidFill>
                <a:latin typeface="Inter"/>
              </a:rPr>
              <a:t>Producers · Recyclers · Public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093208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6F7B73"/>
                </a:solidFill>
                <a:latin typeface="Inter"/>
              </a:rPr>
              <a:t>Participation field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0932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77D4A"/>
                </a:solidFill>
                <a:latin typeface="Inter"/>
              </a:rPr>
              <a:t>Not populated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199632"/>
            <a:ext cx="10424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 i="0">
                <a:solidFill>
                  <a:srgbClr val="7F8B84"/>
                </a:solidFill>
                <a:latin typeface="Inter"/>
              </a:rPr>
              <a:t>Source: 5_Informal_Sector_Hotspots + 7_Awareness_Programs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7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32004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7D4A"/>
                </a:solidFill>
                <a:latin typeface="Inter"/>
              </a:rPr>
              <a:t>06 · GAPS &amp;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6F7B73"/>
                </a:solidFill>
                <a:latin typeface="Inter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938C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95528"/>
            <a:ext cx="1056132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8221D"/>
                </a:solidFill>
                <a:latin typeface="Inter"/>
              </a:rPr>
              <a:t>What needs to improve in the tracker — and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105156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F7B73"/>
                </a:solidFill>
                <a:latin typeface="Inter"/>
              </a:rPr>
              <a:t>Priorities below are a presentation synthesis from the workbook’s missing fields and scorecard logic, not a quoted state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77D4A"/>
                </a:solidFill>
                <a:latin typeface="Inter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975104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77D4A"/>
                </a:solidFill>
                <a:latin typeface="Inter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75104"/>
            <a:ext cx="25146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77D4A"/>
                </a:solidFill>
                <a:latin typeface="Inter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75104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77D4A"/>
                </a:solidFill>
                <a:latin typeface="Inter"/>
              </a:rPr>
              <a:t>IMMEDIATE DATA / PROGRAM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2926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F7B73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395728"/>
            <a:ext cx="21488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10251C"/>
                </a:solidFill>
                <a:latin typeface="Inter"/>
              </a:rPr>
              <a:t>Complete generation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95728"/>
            <a:ext cx="251460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District-level category quantities are largely blank despite a state total figure being present.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4434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1" i="0">
                <a:solidFill>
                  <a:srgbClr val="177D4A"/>
                </a:solidFill>
                <a:latin typeface="Inter"/>
              </a:rPr>
              <a:t>Populate category-wise generation by district and document update 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962656"/>
            <a:ext cx="10927080" cy="10160"/>
          </a:xfrm>
          <a:prstGeom prst="rect">
            <a:avLst/>
          </a:prstGeom>
          <a:solidFill>
            <a:srgbClr val="D9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72968"/>
            <a:ext cx="2926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F7B73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081528"/>
            <a:ext cx="21488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10251C"/>
                </a:solidFill>
                <a:latin typeface="Inter"/>
              </a:rPr>
              <a:t>Reconcile collection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81528"/>
            <a:ext cx="251460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State collected total is populated while district-level collection fields are blank; this weakens the score logic.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81528"/>
            <a:ext cx="4434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1" i="0">
                <a:solidFill>
                  <a:srgbClr val="177D4A"/>
                </a:solidFill>
                <a:latin typeface="Inter"/>
              </a:rPr>
              <a:t>Enter district collection, centers and EPR target/achievement fields.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3648456"/>
            <a:ext cx="10927080" cy="10160"/>
          </a:xfrm>
          <a:prstGeom prst="rect">
            <a:avLst/>
          </a:prstGeom>
          <a:solidFill>
            <a:srgbClr val="D9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58768"/>
            <a:ext cx="2926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F7B73"/>
                </a:solidFill>
                <a:latin typeface="Inte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767328"/>
            <a:ext cx="21488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10251C"/>
                </a:solidFill>
                <a:latin typeface="Inter"/>
              </a:rPr>
              <a:t>Measure informal-sector transition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767328"/>
            <a:ext cx="251460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Four hotspots are listed but worker and formalization counts are empty.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67328"/>
            <a:ext cx="4434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1" i="0">
                <a:solidFill>
                  <a:srgbClr val="177D4A"/>
                </a:solidFill>
                <a:latin typeface="Inter"/>
              </a:rPr>
              <a:t>Capture workers, training, registration and remediation outcomes.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4334256"/>
            <a:ext cx="10927080" cy="10160"/>
          </a:xfrm>
          <a:prstGeom prst="rect">
            <a:avLst/>
          </a:prstGeom>
          <a:solidFill>
            <a:srgbClr val="D9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44568"/>
            <a:ext cx="2926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F7B73"/>
                </a:solidFill>
                <a:latin typeface="Inte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453128"/>
            <a:ext cx="21488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10251C"/>
                </a:solidFill>
                <a:latin typeface="Inter"/>
              </a:rPr>
              <a:t>Quantify awareness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453128"/>
            <a:ext cx="251460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One program is recorded, yet participants and collection-drive counts are 0/blank.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53128"/>
            <a:ext cx="4434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1" i="0">
                <a:solidFill>
                  <a:srgbClr val="177D4A"/>
                </a:solidFill>
                <a:latin typeface="Inter"/>
              </a:rPr>
              <a:t>Record participants, campaign dates, drives and take-back outcomes.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" y="5020056"/>
            <a:ext cx="10927080" cy="10160"/>
          </a:xfrm>
          <a:prstGeom prst="rect">
            <a:avLst/>
          </a:prstGeom>
          <a:solidFill>
            <a:srgbClr val="D9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30368"/>
            <a:ext cx="2926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F7B73"/>
                </a:solidFill>
                <a:latin typeface="Inter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138928"/>
            <a:ext cx="21488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 i="0">
                <a:solidFill>
                  <a:srgbClr val="10251C"/>
                </a:solidFill>
                <a:latin typeface="Inter"/>
              </a:rPr>
              <a:t>Extend health safeguards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138928"/>
            <a:ext cx="251460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6F7B73"/>
                </a:solidFill>
                <a:latin typeface="Inter"/>
              </a:rPr>
              <a:t>Two monitoring sites are logged but no health camps are recorded.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38928"/>
            <a:ext cx="4434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1" i="0">
                <a:solidFill>
                  <a:srgbClr val="177D4A"/>
                </a:solidFill>
                <a:latin typeface="Inter"/>
              </a:rPr>
              <a:t>Track screenings, camp frequency and beneficiary counts alongside hotspot monitoring.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705856"/>
            <a:ext cx="10927080" cy="10160"/>
          </a:xfrm>
          <a:prstGeom prst="rect">
            <a:avLst/>
          </a:prstGeom>
          <a:solidFill>
            <a:srgbClr val="D9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199632"/>
            <a:ext cx="10424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 i="0">
                <a:solidFill>
                  <a:srgbClr val="7F8B84"/>
                </a:solidFill>
                <a:latin typeface="Inter"/>
              </a:rPr>
              <a:t>Source: Synthesis from 0_Scorecard through 7_Awareness_Programs; missing-data interpretation shown explicitly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8D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32004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8D3A1"/>
                </a:solidFill>
                <a:latin typeface="Inter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28232"/>
            <a:ext cx="2743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28232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B6C2BB"/>
                </a:solidFill>
                <a:latin typeface="Inter"/>
              </a:rPr>
              <a:t>STATE E-WASTE MANAGEMENT ·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41832"/>
            <a:ext cx="1042416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Inter"/>
              </a:rPr>
              <a:t>Uttar Pradesh has a substantial formal-recycling base — but the tracker is not yet a complete performance picture.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057400"/>
            <a:ext cx="10515600" cy="12700"/>
          </a:xfrm>
          <a:prstGeom prst="rect">
            <a:avLst/>
          </a:prstGeom>
          <a:solidFill>
            <a:srgbClr val="355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78D3A1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063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8D3A1"/>
                </a:solidFill>
                <a:latin typeface="Inter"/>
              </a:rPr>
              <a:t>FORMAL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306324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D7E0DB"/>
                </a:solidFill>
                <a:latin typeface="Inter"/>
              </a:rPr>
              <a:t>388,000 t/yr of listed installed capacity, with 376,896.74 t processed in the total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23160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78D3A1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063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8D3A1"/>
                </a:solidFill>
                <a:latin typeface="Inter"/>
              </a:rPr>
              <a:t>COMPLIANCE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54680"/>
            <a:ext cx="306324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D7E0DB"/>
                </a:solidFill>
                <a:latin typeface="Inter"/>
              </a:rPr>
              <a:t>The current scorecard awards the full 15 points for the regulatory compliance category.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423160"/>
            <a:ext cx="4114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1" i="0">
                <a:solidFill>
                  <a:srgbClr val="78D3A1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743200"/>
            <a:ext cx="3063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8D3A1"/>
                </a:solidFill>
                <a:latin typeface="Inter"/>
              </a:rPr>
              <a:t>DATA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154680"/>
            <a:ext cx="306324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D7E0DB"/>
                </a:solidFill>
                <a:latin typeface="Inter"/>
              </a:rPr>
              <a:t>20.5 / 100 is driven largely by blank or incomplete generation, collection, informal-sector and awareness fields.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36592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8D3A1"/>
                </a:solidFill>
                <a:latin typeface="Inter"/>
              </a:rPr>
              <a:t>Next 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681728"/>
            <a:ext cx="905256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Inter"/>
              </a:rPr>
              <a:t>Treat the workbook as a quarterly control tower: complete missing fields first, then use the same scorecard to measure year-on-year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67665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 i="0">
                <a:solidFill>
                  <a:srgbClr val="AEBBB3"/>
                </a:solidFill>
                <a:latin typeface="Inter"/>
              </a:rPr>
              <a:t>Source: State_EWaste_Tracker_Final(1).xlsx · current populated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5989320"/>
            <a:ext cx="1280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04516C1C-5F85-4B17-A864-5810817C20B6}"/>
</file>

<file path=customXml/itemProps2.xml><?xml version="1.0" encoding="utf-8"?>
<ds:datastoreItem xmlns:ds="http://schemas.openxmlformats.org/officeDocument/2006/customXml" ds:itemID="{58E7A7A7-D328-496B-964F-BA22C5782F90}"/>
</file>

<file path=customXml/itemProps3.xml><?xml version="1.0" encoding="utf-8"?>
<ds:datastoreItem xmlns:ds="http://schemas.openxmlformats.org/officeDocument/2006/customXml" ds:itemID="{F72A700B-3673-43AC-A5DE-0D4F763A282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